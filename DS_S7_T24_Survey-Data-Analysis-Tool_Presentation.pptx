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79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987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4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85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29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98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9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9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0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3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9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C0E9FB36-34D2-4F42-899A-4AF930645B5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4BFC1-27CB-4B18-A302-BC243412DD8F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646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37DD-D750-8BF9-4E20-15873F610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Survey Data Analysis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B8875-4B1D-B811-B491-497891906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DS_26E_S7_T24</a:t>
            </a:r>
          </a:p>
        </p:txBody>
      </p:sp>
    </p:spTree>
    <p:extLst>
      <p:ext uri="{BB962C8B-B14F-4D97-AF65-F5344CB8AC3E}">
        <p14:creationId xmlns:p14="http://schemas.microsoft.com/office/powerpoint/2010/main" val="390643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67C4-F603-F084-34D7-691743CC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TEAM MEMBERS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23AACE-50FD-DB9D-2695-553E73D8D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619106"/>
              </p:ext>
            </p:extLst>
          </p:nvPr>
        </p:nvGraphicFramePr>
        <p:xfrm>
          <a:off x="2115127" y="1950720"/>
          <a:ext cx="8128000" cy="3387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951345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42889685"/>
                    </a:ext>
                  </a:extLst>
                </a:gridCol>
              </a:tblGrid>
              <a:tr h="83824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601986"/>
                  </a:ext>
                </a:extLst>
              </a:tr>
              <a:tr h="849885">
                <a:tc>
                  <a:txBody>
                    <a:bodyPr/>
                    <a:lstStyle/>
                    <a:p>
                      <a:r>
                        <a:rPr lang="en-US" dirty="0"/>
                        <a:t>Raavi Jahnavi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84402"/>
                  </a:ext>
                </a:extLst>
              </a:tr>
              <a:tr h="849885">
                <a:tc>
                  <a:txBody>
                    <a:bodyPr/>
                    <a:lstStyle/>
                    <a:p>
                      <a:r>
                        <a:rPr lang="en-US" dirty="0"/>
                        <a:t>Thirumala Reddy Sagar Mounitha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2420030330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784884"/>
                  </a:ext>
                </a:extLst>
              </a:tr>
              <a:tr h="849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SriHansika</a:t>
                      </a:r>
                      <a:r>
                        <a:rPr lang="en-US" dirty="0"/>
                        <a:t> Saraf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2420030556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301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04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035CA-F1C2-2E89-6AA1-E36EB3AE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44F0A-7F8C-FC21-C2BE-47ACB10D2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A Python-based Data Science project for collecting, processing, analyzing, and visualizing survey responses. </a:t>
            </a:r>
          </a:p>
          <a:p>
            <a:pPr lvl="0"/>
            <a:r>
              <a:rPr lang="en-US" dirty="0"/>
              <a:t>Identifies useful patterns, relationships, and trends in survey data. </a:t>
            </a:r>
          </a:p>
          <a:p>
            <a:pPr lvl="0"/>
            <a:r>
              <a:rPr lang="en-US" dirty="0"/>
              <a:t>Provides meaningful statistical insights through an interactive dashboard.</a:t>
            </a:r>
          </a:p>
          <a:p>
            <a:pPr lvl="0"/>
            <a:r>
              <a:rPr lang="en-US" dirty="0"/>
              <a:t>Survey data often contains missing, inconsistent, or unstructured responses. </a:t>
            </a:r>
          </a:p>
          <a:p>
            <a:pPr lvl="0"/>
            <a:r>
              <a:rPr lang="en-US" dirty="0"/>
              <a:t>Manual analysis makes it difficult to identify important patterns and relationships. </a:t>
            </a:r>
          </a:p>
          <a:p>
            <a:pPr lvl="0"/>
            <a:r>
              <a:rPr lang="en-US" dirty="0"/>
              <a:t>An automated system is needed to clean, analyze, and visualize survey data efficiently. </a:t>
            </a:r>
          </a:p>
          <a:p>
            <a:pPr lvl="0"/>
            <a:r>
              <a:rPr lang="en-US" dirty="0"/>
              <a:t>The tool provides a simple platform for understanding survey results and generating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76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96C7-4AA0-4873-9D8D-1811F72B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A1F9-922D-AFE9-C460-AA91B588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Collect and organize survey responses. </a:t>
            </a:r>
          </a:p>
          <a:p>
            <a:pPr lvl="0"/>
            <a:r>
              <a:rPr lang="en-US" dirty="0"/>
              <a:t>Clean and preprocess raw survey data. </a:t>
            </a:r>
          </a:p>
          <a:p>
            <a:pPr lvl="0"/>
            <a:r>
              <a:rPr lang="en-US" dirty="0"/>
              <a:t>Perform Exploratory Data Analysis (EDA). </a:t>
            </a:r>
          </a:p>
          <a:p>
            <a:pPr lvl="0"/>
            <a:r>
              <a:rPr lang="en-US" dirty="0"/>
              <a:t>Analyze correlation and covariance between variables. </a:t>
            </a:r>
          </a:p>
          <a:p>
            <a:pPr lvl="0"/>
            <a:r>
              <a:rPr lang="en-US" dirty="0"/>
              <a:t>Perform hypothesis testing and Chi-square testing. </a:t>
            </a:r>
          </a:p>
          <a:p>
            <a:pPr lvl="0"/>
            <a:r>
              <a:rPr lang="en-US" dirty="0"/>
              <a:t>Generate meaningful visualizations. </a:t>
            </a:r>
          </a:p>
          <a:p>
            <a:pPr lvl="0"/>
            <a:r>
              <a:rPr lang="en-US" dirty="0"/>
              <a:t>Apply Machine Learning for classification or prediction where suitable.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46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0328-CC56-37C0-4FEB-48561C6BB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43F8-1243-31D6-CA72-8BD424FC2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Data Collection → Data Preprocessing → EDA → Statistical Analysis → Machine Learning → Dashboard → Insights</a:t>
            </a:r>
            <a:endParaRPr lang="en-US" dirty="0"/>
          </a:p>
          <a:p>
            <a:pPr lvl="0"/>
            <a:r>
              <a:rPr lang="en-US" b="1" dirty="0"/>
              <a:t>Data Collection</a:t>
            </a:r>
            <a:r>
              <a:rPr lang="en-US" dirty="0"/>
              <a:t> – Gather survey responses. </a:t>
            </a:r>
          </a:p>
          <a:p>
            <a:pPr lvl="0"/>
            <a:r>
              <a:rPr lang="en-US" b="1" dirty="0"/>
              <a:t>Preprocessing</a:t>
            </a:r>
            <a:r>
              <a:rPr lang="en-US" dirty="0"/>
              <a:t> – Handle missing values, duplicates, and inconsistencies. </a:t>
            </a:r>
          </a:p>
          <a:p>
            <a:pPr lvl="0"/>
            <a:r>
              <a:rPr lang="en-US" b="1" dirty="0"/>
              <a:t>EDA</a:t>
            </a:r>
            <a:r>
              <a:rPr lang="en-US" dirty="0"/>
              <a:t> – Explore distributions, trends, and relationships. </a:t>
            </a:r>
          </a:p>
          <a:p>
            <a:pPr lvl="0"/>
            <a:r>
              <a:rPr lang="en-US" b="1" dirty="0"/>
              <a:t>Statistical Analysis</a:t>
            </a:r>
            <a:r>
              <a:rPr lang="en-US" dirty="0"/>
              <a:t> – Perform correlation, covariance, hypothesis, and Chi-square tests. </a:t>
            </a:r>
          </a:p>
          <a:p>
            <a:pPr lvl="0"/>
            <a:r>
              <a:rPr lang="en-US" b="1" dirty="0"/>
              <a:t>Machine Learning</a:t>
            </a:r>
            <a:r>
              <a:rPr lang="en-US" dirty="0"/>
              <a:t> – Predict or classify selected outcomes. </a:t>
            </a:r>
          </a:p>
          <a:p>
            <a:pPr lvl="0"/>
            <a:r>
              <a:rPr lang="en-US" b="1" dirty="0"/>
              <a:t>Dashboard</a:t>
            </a:r>
            <a:r>
              <a:rPr lang="en-US" dirty="0"/>
              <a:t> – Display results and insights interactively.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5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A794-1C8D-2557-04FB-DE0D3A10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Collection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602B6-A710-6678-6C14-7AC83F045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Collect survey responses through forms or CSV/Excel files. </a:t>
            </a:r>
          </a:p>
          <a:p>
            <a:pPr lvl="0"/>
            <a:r>
              <a:rPr lang="en-US" dirty="0"/>
              <a:t>Handle missing and null values. </a:t>
            </a:r>
          </a:p>
          <a:p>
            <a:pPr lvl="0"/>
            <a:r>
              <a:rPr lang="en-US" dirty="0"/>
              <a:t>Remove duplicate records. </a:t>
            </a:r>
          </a:p>
          <a:p>
            <a:pPr lvl="0"/>
            <a:r>
              <a:rPr lang="en-US" dirty="0"/>
              <a:t>Correct inconsistent data entries. </a:t>
            </a:r>
          </a:p>
          <a:p>
            <a:pPr lvl="0"/>
            <a:r>
              <a:rPr lang="en-US" dirty="0"/>
              <a:t>Convert categorical data into suitable formats. </a:t>
            </a:r>
          </a:p>
          <a:p>
            <a:pPr lvl="0"/>
            <a:r>
              <a:rPr lang="en-US" dirty="0"/>
              <a:t>Validate data types and values. </a:t>
            </a:r>
          </a:p>
          <a:p>
            <a:pPr lvl="0"/>
            <a:r>
              <a:rPr lang="en-US" dirty="0"/>
              <a:t>Prepare a clean dataset for further analysis. </a:t>
            </a:r>
          </a:p>
          <a:p>
            <a:r>
              <a:rPr lang="en-US" b="1" dirty="0"/>
              <a:t>Tools:</a:t>
            </a:r>
            <a:r>
              <a:rPr lang="en-US" dirty="0"/>
              <a:t> Python, Pandas, NumPy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1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8DF0D-7572-23A0-5A9E-7BF68206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827" y="355474"/>
            <a:ext cx="7958331" cy="1077229"/>
          </a:xfrm>
        </p:spPr>
        <p:txBody>
          <a:bodyPr/>
          <a:lstStyle/>
          <a:p>
            <a:pPr algn="ctr"/>
            <a:r>
              <a:rPr lang="en-US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7571-3A0C-368C-C175-7311FCAE3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109" y="1708728"/>
            <a:ext cx="9120030" cy="5043054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Understand the distribution of survey responses. </a:t>
            </a:r>
          </a:p>
          <a:p>
            <a:pPr lvl="0"/>
            <a:r>
              <a:rPr lang="en-US" dirty="0"/>
              <a:t>Calculate </a:t>
            </a:r>
            <a:r>
              <a:rPr lang="en-US" b="1" dirty="0"/>
              <a:t>Mean, Median, Mode, and Standard Deviation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Compare responses across different categories. </a:t>
            </a:r>
          </a:p>
          <a:p>
            <a:pPr lvl="0"/>
            <a:r>
              <a:rPr lang="en-US" dirty="0"/>
              <a:t>Identify trends, patterns, and outliers. </a:t>
            </a:r>
          </a:p>
          <a:p>
            <a:pPr lvl="0"/>
            <a:r>
              <a:rPr lang="en-US" dirty="0"/>
              <a:t>Study relationships between variables. </a:t>
            </a:r>
          </a:p>
          <a:p>
            <a:pPr lvl="0"/>
            <a:r>
              <a:rPr lang="en-US" dirty="0"/>
              <a:t>Generate visualizations such as: </a:t>
            </a:r>
          </a:p>
          <a:p>
            <a:pPr lvl="1"/>
            <a:r>
              <a:rPr lang="en-US" dirty="0"/>
              <a:t>Bar Charts </a:t>
            </a:r>
          </a:p>
          <a:p>
            <a:pPr lvl="1"/>
            <a:r>
              <a:rPr lang="en-US" dirty="0"/>
              <a:t>Histograms </a:t>
            </a:r>
          </a:p>
          <a:p>
            <a:pPr lvl="1"/>
            <a:r>
              <a:rPr lang="en-US" dirty="0"/>
              <a:t>Box Plots </a:t>
            </a:r>
          </a:p>
          <a:p>
            <a:pPr lvl="1"/>
            <a:r>
              <a:rPr lang="en-US" dirty="0"/>
              <a:t>Heatmaps </a:t>
            </a:r>
          </a:p>
          <a:p>
            <a:pPr lvl="1"/>
            <a:r>
              <a:rPr lang="en-US" dirty="0"/>
              <a:t>Pie Charts </a:t>
            </a:r>
          </a:p>
          <a:p>
            <a:r>
              <a:rPr lang="en-US" b="1" dirty="0"/>
              <a:t>Libraries:</a:t>
            </a:r>
            <a:r>
              <a:rPr lang="en-US" dirty="0"/>
              <a:t> Matplotlib, Seaborn, Pandas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0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E18C5-155A-DE16-A8D1-2C222805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B65B6-24BA-081E-14F3-056F4E7D0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b="1" dirty="0"/>
              <a:t>Correlation Analysis</a:t>
            </a:r>
            <a:r>
              <a:rPr lang="en-US" dirty="0"/>
              <a:t> – Measures the strength and direction of relationships between numerical variables. </a:t>
            </a:r>
          </a:p>
          <a:p>
            <a:pPr lvl="0"/>
            <a:r>
              <a:rPr lang="en-US" b="1" dirty="0"/>
              <a:t>Covariance Analysis</a:t>
            </a:r>
            <a:r>
              <a:rPr lang="en-US" dirty="0"/>
              <a:t> – Determines how two variables change together. </a:t>
            </a:r>
          </a:p>
          <a:p>
            <a:pPr lvl="0"/>
            <a:r>
              <a:rPr lang="en-US" b="1" dirty="0"/>
              <a:t>Hypothesis Testing</a:t>
            </a:r>
            <a:r>
              <a:rPr lang="en-US" dirty="0"/>
              <a:t> – Determines whether observed differences are statistically significant. </a:t>
            </a:r>
          </a:p>
          <a:p>
            <a:pPr lvl="0"/>
            <a:r>
              <a:rPr lang="en-US" b="1" dirty="0"/>
              <a:t>Chi-square Test</a:t>
            </a:r>
            <a:r>
              <a:rPr lang="en-US" dirty="0"/>
              <a:t> – Identifies relationships between categorical variables. </a:t>
            </a:r>
          </a:p>
          <a:p>
            <a:pPr lvl="0"/>
            <a:r>
              <a:rPr lang="en-US" dirty="0"/>
              <a:t>Analyze </a:t>
            </a:r>
            <a:r>
              <a:rPr lang="en-US" b="1" dirty="0"/>
              <a:t>p-values</a:t>
            </a:r>
            <a:r>
              <a:rPr lang="en-US" dirty="0"/>
              <a:t> to determine statistical significance. </a:t>
            </a:r>
          </a:p>
          <a:p>
            <a:pPr lvl="0"/>
            <a:r>
              <a:rPr lang="en-US" dirty="0"/>
              <a:t>Use statistical results to generate reliable data-driven conclusions.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2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BCE1-3D44-3C42-30EC-E8CFED77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D696CB-D09D-C90F-D4FB-A94E5C1DC0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935367"/>
              </p:ext>
            </p:extLst>
          </p:nvPr>
        </p:nvGraphicFramePr>
        <p:xfrm>
          <a:off x="2773363" y="2268220"/>
          <a:ext cx="7796212" cy="35661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898106">
                  <a:extLst>
                    <a:ext uri="{9D8B030D-6E8A-4147-A177-3AD203B41FA5}">
                      <a16:colId xmlns:a16="http://schemas.microsoft.com/office/drawing/2014/main" val="1540828798"/>
                    </a:ext>
                  </a:extLst>
                </a:gridCol>
                <a:gridCol w="3898106">
                  <a:extLst>
                    <a:ext uri="{9D8B030D-6E8A-4147-A177-3AD203B41FA5}">
                      <a16:colId xmlns:a16="http://schemas.microsoft.com/office/drawing/2014/main" val="3458939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102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programming and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282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Numerical computations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892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processing and manipulation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3623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63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Seaborn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Statistical visualizations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162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SciPy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Statistical and hypothesis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169149"/>
                  </a:ext>
                </a:extLst>
              </a:tr>
              <a:tr h="174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01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 err="1"/>
                        <a:t>Streamlit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Interactive Python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18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12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E39B-6004-7D61-F771-E71224FC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00DF1-41CD-6B83-63D4-210474ECA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Display total number of survey responses. </a:t>
            </a:r>
          </a:p>
          <a:p>
            <a:pPr lvl="0"/>
            <a:r>
              <a:rPr lang="en-US" dirty="0"/>
              <a:t>Show important survey statistics. </a:t>
            </a:r>
          </a:p>
          <a:p>
            <a:pPr lvl="0"/>
            <a:r>
              <a:rPr lang="en-US" dirty="0"/>
              <a:t>Provide interactive graphs and charts. </a:t>
            </a:r>
          </a:p>
          <a:p>
            <a:pPr lvl="0"/>
            <a:r>
              <a:rPr lang="en-US" dirty="0"/>
              <a:t>Compare responses across different categories. </a:t>
            </a:r>
          </a:p>
          <a:p>
            <a:pPr lvl="0"/>
            <a:r>
              <a:rPr lang="en-US" dirty="0"/>
              <a:t>Display correlation matrices and heatmaps. </a:t>
            </a:r>
          </a:p>
          <a:p>
            <a:pPr lvl="0"/>
            <a:r>
              <a:rPr lang="en-US" dirty="0"/>
              <a:t>Show hypothesis testing and Chi-square results. </a:t>
            </a:r>
          </a:p>
          <a:p>
            <a:pPr lvl="0"/>
            <a:r>
              <a:rPr lang="en-US" dirty="0"/>
              <a:t>Allow users to select and explore different variables. </a:t>
            </a:r>
          </a:p>
          <a:p>
            <a:pPr lvl="0"/>
            <a:r>
              <a:rPr lang="en-US" dirty="0"/>
              <a:t>Present important findings in a simple and user-friendly format.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5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7A63-A695-2D19-F7BD-C85AD2A4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E98E-5799-4EE6-2DB8-2217BB8E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Complete survey analysis system from </a:t>
            </a:r>
            <a:r>
              <a:rPr lang="en-US" b="1" dirty="0"/>
              <a:t>raw data to meaningful insights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Automated data preprocessing and statistical analysis. </a:t>
            </a:r>
          </a:p>
          <a:p>
            <a:pPr lvl="0"/>
            <a:r>
              <a:rPr lang="en-US" dirty="0"/>
              <a:t>Interactive visualization of survey results. </a:t>
            </a:r>
          </a:p>
          <a:p>
            <a:pPr lvl="0"/>
            <a:r>
              <a:rPr lang="en-US" dirty="0"/>
              <a:t>Identification of significant patterns and relationships. </a:t>
            </a:r>
          </a:p>
          <a:p>
            <a:pPr lvl="0"/>
            <a:r>
              <a:rPr lang="en-US" dirty="0"/>
              <a:t>Easy-to-understand data-driven conclusions.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63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2BB11-A9A4-B95B-39A1-1B714BF2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AAF74-AAE0-D61D-2229-D12C11932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Real-time survey data collection. </a:t>
            </a:r>
          </a:p>
          <a:p>
            <a:pPr lvl="0"/>
            <a:r>
              <a:rPr lang="en-US" dirty="0"/>
              <a:t>Advanced Machine Learning prediction. </a:t>
            </a:r>
          </a:p>
          <a:p>
            <a:pPr lvl="0"/>
            <a:r>
              <a:rPr lang="en-US" dirty="0"/>
              <a:t>Automated report generation. </a:t>
            </a:r>
          </a:p>
          <a:p>
            <a:pPr lvl="0"/>
            <a:r>
              <a:rPr lang="en-US" dirty="0"/>
              <a:t>Cloud deployment. </a:t>
            </a:r>
          </a:p>
          <a:p>
            <a:pPr lvl="0"/>
            <a:r>
              <a:rPr lang="en-US" dirty="0"/>
              <a:t>Support for larger datasets. </a:t>
            </a:r>
          </a:p>
          <a:p>
            <a:pPr lvl="0"/>
            <a:r>
              <a:rPr lang="en-US" dirty="0"/>
              <a:t>Integration with online survey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38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27F8-53F9-03CA-6506-DE1D8A3C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15920770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11</TotalTime>
  <Words>596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MS Shell Dlg 2</vt:lpstr>
      <vt:lpstr>Wingdings</vt:lpstr>
      <vt:lpstr>Wingdings 3</vt:lpstr>
      <vt:lpstr>Madison</vt:lpstr>
      <vt:lpstr>Survey Data Analysis Tool</vt:lpstr>
      <vt:lpstr>TEAM MEMBERS </vt:lpstr>
      <vt:lpstr>Problem Statement</vt:lpstr>
      <vt:lpstr>Objectives</vt:lpstr>
      <vt:lpstr>System Workflow</vt:lpstr>
      <vt:lpstr>Data Collection &amp; Preprocessing</vt:lpstr>
      <vt:lpstr>Exploratory Data Analysis (EDA)</vt:lpstr>
      <vt:lpstr>Statistical Analysis</vt:lpstr>
      <vt:lpstr>Technologies Used</vt:lpstr>
      <vt:lpstr>Interactive Dashboard</vt:lpstr>
      <vt:lpstr>Expected Outcome</vt:lpstr>
      <vt:lpstr>Future Scope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Mounitha ThirumalaReddy</dc:creator>
  <cp:lastModifiedBy>Mounitha ThirumalaReddy</cp:lastModifiedBy>
  <cp:revision>1</cp:revision>
  <dcterms:created xsi:type="dcterms:W3CDTF">2026-08-17T07:29:58Z</dcterms:created>
  <dcterms:modified xsi:type="dcterms:W3CDTF">2026-08-17T07:41:54Z</dcterms:modified>
</cp:coreProperties>
</file>